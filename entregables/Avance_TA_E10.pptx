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Presentarse. Decir que se cubren las etapas 1 a 4 de KDD y una selección preliminar de modelos.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Puericultorio acoge NNA. El diagnóstico nutricional se escribe a mano en la ficha. Preguntamos si coincide con las mediciones y si se puede estimar con ellas.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que el objetivo se definió libremente (los Lineamientos dan uno genérico) y que cambió con evidencia.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 bloques. Resaltar que el Bloque 1 es panel mensual con IDs no únicos y el Bloque 2 cubre 6 meses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hallazgo tiene una decisión justificada; está en el notebook Step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Resultado negativo honesto. Justifica el cambio de enfoque. Está en el Anexo Step 4 y Step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Resumen de pasos con filas antes/después. Detalle en Step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Clave: un niño tiene varias evaluaciones parecidas; si se mezclan en train y test hay fuga. Se parte por niño.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Residuos por edad y sexo, escalado ajustado solo con train, PCA descartado.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AUC en CV agrupada por niño, solo train. Logística y SVC son los candidatos; KNN comparador. Diferencias ~0,02 no son concluyentes.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Concordancia 68,6 %. No sabemos qué lado falla; es una lista para la nutricionista. Clustering queda como línea futura.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Declarar las limitaciones nosotros. Mostrar el Gantt (archivo Gantt_E10.xlsx).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Lineamientos exigen declarar, citar y justificar el uso de IA. Prompts disponibles como anexo si el docente los solicita.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Auditoría y estimación del estado nutricional de niñas, niños y adolescentes del Puericultorio Pérez Araníbar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DDEBF7"/>
                </a:solidFill>
                <a:latin typeface="Calibri"/>
              </a:rPr>
              <a:t>Avance de la Tarea Académica – Etapas 1 a 4 de KDD (5 y 6 preliminar)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Equipo E10 · Análisis de Datos (1INF03) · 2026-2
Profesora: Stéfany Neciosup
Integrantes: [nombres por completar] – códigos 20206770, 20203289, 20213801, 20181390, 20180282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1. El caso: ¿qué tan confiable es el registro nutricional?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E10 · 1INF03 Análisis de Datos 2026-2 · Avance de la 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7607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04040"/>
                </a:solidFill>
                <a:latin typeface="Calibri"/>
              </a:rPr>
              <a:t/>
            </a:r>
            <a:r>
              <a:rPr sz="1800">
                <a:solidFill>
                  <a:srgbClr val="404040"/>
                </a:solidFill>
                <a:latin typeface="Calibri"/>
              </a:rPr>
              <a:t>• Puericultorio Pérez Araníbar: niñas, niños y adolescentes (NNA) acogidos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04040"/>
                </a:solidFill>
                <a:latin typeface="Calibri"/>
              </a:rPr>
              <a:t>• El estado nutricional se anota a mano en la ficha mensual («Nivel Nutricional»)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– Texto libre: 29 variantes de escritura, errores y casos «en proceso»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04040"/>
                </a:solidFill>
                <a:latin typeface="Calibri"/>
              </a:rPr>
              <a:t>• Además se miden peso y talla y se clasifican con tablas OMS / INS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04040"/>
                </a:solidFill>
                <a:latin typeface="Calibri"/>
              </a:rPr>
              <a:t>• Pregunta de negocio: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– ¿Ficha y mediciones cuentan la misma historia?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– ¿Se puede estimar la alteración nutricional con peso, talla, edad y sexo?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4937760" cy="2194560"/>
          </a:xfrm>
          <a:prstGeom prst="roundRect">
            <a:avLst>
              <a:gd name="adj" fmla="val 6000"/>
            </a:avLst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35331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Por qué importa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737360"/>
            <a:ext cx="466344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  <a:latin typeface="Calibri"/>
              </a:rPr>
              <a:t>Detectar a tiempo exceso de peso o retraso de talla, mejorar la calidad del dato y priorizar la atención de la nutricionista.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3749039"/>
            <a:ext cx="4937760" cy="219456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3822191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  <a:latin typeface="Calibri"/>
              </a:rPr>
              <a:t>Lo que encontramos (adelanto)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206240"/>
            <a:ext cx="466344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  <a:latin typeface="Calibri"/>
              </a:rPr>
              <a:t>Ficha y medición OMS concuerdan en 68,8 %. Con las medidas se estima la alteración estricta con AUC 0,76–0,86 (según la partición); con la ficha sola, no (AUC ≈ 0,5).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2. Objetivos de análisis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E10 · 1INF03 Análisis de Datos 2026-2 · Avance de la 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61872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1. Principal – Clasificar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338328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Estimar la alteración estricta (exceso de peso o retraso de talla) con peso, talla, IMC, edad y sexo. Etiqueta amplia (con riesgos) como sensibilidad.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18872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261872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2. Auditar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645920"/>
            <a:ext cx="338328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Señalar a los NNA y meses donde ficha y medición discrepan, para revisión de la nutricionista.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18872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261872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3. Perfilar (final)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645920"/>
            <a:ext cx="310896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Grupos de NNA por medidas y situación en el hogar (clustering). Línea futura.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06240"/>
            <a:ext cx="11064240" cy="1920240"/>
          </a:xfrm>
          <a:prstGeom prst="roundRect">
            <a:avLst>
              <a:gd name="adj" fmla="val 6000"/>
            </a:avLst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279392"/>
            <a:ext cx="107899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Cómo llegamos aquí: una hipótesis descartada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663440"/>
            <a:ext cx="1078991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Primero intentamos predecir la alteración solo con las variables de la ficha (situación legal, UPE, educación, soporte psicológico…). Resultado: AUC 0,48 a 0,56, sin diferencia con el azar (p 0,20 a 0,37). Lo documentamos en los anexos y cambiamos el enfoque a las medidas antropométricas.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3. Composición de los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E10 · 1INF03 Análisis de Datos 2026-2 · Avance de la TA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4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754880"/>
                <a:gridCol w="4663440"/>
              </a:tblGrid>
              <a:tr h="64007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Bloque 1: ficha nominal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Bloque 2: nutrición 2026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Contenido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Datos del NNA, situación legal, educación, salud, soporte y diagnóstico nutricional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Peso, talla, IMC y diagnósticos OMS e INS (P/E, T/E, P/T, IMC)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Tamaño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2 667 filas × 33 columnas · 19 meses (ene-2025 a jul-2026)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379 filas · 6 meses (ene, feb, mar, abr, jun, ago)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NNA × mes (panel)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NNA × evaluación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Variables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Mayormente categóricas; edad y tiempo en el hogar numéricas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Numéricas (medidas) y categóricas (diagnósticos)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Limitaciones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IDs no únicos; fechas en 3 formatos; diagnóstico en texto libre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Faltan mayo y julio; agosto sin ficha; hogares incompletos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Calibri"/>
              </a:rPr>
              <a:t/>
            </a:r>
            <a:r>
              <a:rPr sz="1400">
                <a:solidFill>
                  <a:srgbClr val="404040"/>
                </a:solidFill>
                <a:latin typeface="Calibri"/>
              </a:rPr>
              <a:t>• Clave propia del NNA: ID + sexo + fecha de nacimiento → 164 NNA (4 IDs agrupaban niños distintos)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  <a:latin typeface="Calibri"/>
              </a:rPr>
              <a:t>• Cruce por periodo + ID (la fecha de nacimiento difiere entre bloques en 4 NNA): 324 evaluaciones de 121 NNA con diagnóstico en la ficha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4. Calidad de los datos: lo que encontramos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E10 · 1INF03 Análisis de Datos 2026-2 · Avance de la TA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572000"/>
                <a:gridCol w="411480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Problema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Evidencia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Decisión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IDs no únicos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4 IDs agrupan niños distintos (157 IDs → 164 NNA)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Clave ID + sexo + nacimiento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Fechas inconsistentes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Ficha: 3 formatos. Bloque 2: 1 fecha mal transcrita en el consolidado anterior y 4 NNA con nacimiento distinto entre bloques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Conversión por formato (0 pérdidas); consolidado rehecho desde los 6 Excel; cruce por periodo + ID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Ingreso inválido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87 filas (15 NNA): ingreso fuera del rango lógico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Se marca (NaT + indicador), no se descarta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Edad negativa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2 filas: nacimiento posterior al registro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Se excluyen (error de captura)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Diagnóstico sucio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29 variantes de texto y «en proceso»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Se descompone en componentes → etiquetas binarias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Variables sin información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13 variables constantes o duplicadas (p. ej., Seguro, Nacionalidad)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Se descartan con evidencia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Edad en el Bloque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Junio y agosto: fórmula HOY(), no la edad a la fecha de evaluación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Edad calculada desde la fecha de nacimiento al día 15 del 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Atípicos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1 persona de 28 años; IMC extremos reales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Se conserva en la ficha; se excluye de los modelos (&gt; 19 años, fuera de OMS)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5. Primer intento: solo con la ficha → sin señal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E10 · 1INF03 Análisis de Datos 2026-2 · Avance de la TA</a:t>
            </a:r>
          </a:p>
        </p:txBody>
      </p:sp>
      <p:pic>
        <p:nvPicPr>
          <p:cNvPr id="6" name="Picture 5" descr="a5_viabilidad_a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6766559" cy="29516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280160"/>
            <a:ext cx="44805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Calibri"/>
              </a:rPr>
              <a:t/>
            </a:r>
            <a:r>
              <a:rPr sz="1500">
                <a:solidFill>
                  <a:srgbClr val="404040"/>
                </a:solidFill>
                <a:latin typeface="Calibri"/>
              </a:rPr>
              <a:t>• Se probaron regresión logística, KNN y SVC con 18 variables de la ficha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Calibri"/>
              </a:rPr>
              <a:t>• AUC entre 0,48 y 0,56; la prueba de permutaciones no los distingue del azar (p ≥ 0,20)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Calibri"/>
              </a:rPr>
              <a:t>• La edad sola (AUC 0,62) rinde mejor que todas las variables (0,56)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Calibri"/>
              </a:rPr>
              <a:t>• Lectura: con la ficha administrativa no se predice la alteración; los factores relevantes no están en ella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Calibri"/>
              </a:rPr>
              <a:t>• Decisión: pasar a las medidas antropométricas, no ajustar el modelo hasta que «salga»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6. Preprocesamiento justificado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E10 · 1INF03 Análisis de Datos 2026-2 · Avance de la TA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291840"/>
                <a:gridCol w="411480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Paso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Por qué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Limpieza de texto y vacíos disfrazados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2 667 × 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Espacios y «NA» impedían contar nulos y agrupar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Clave de niño y duplicados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164 NNA; 0 duplicados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Evitar mezclar niños con el mismo ID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Edad negativa e ingreso inválido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−2 filas; 87 marcadas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Errores de captura sin perder niños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Etiqueta binaria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29 variantes → 6 componentes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Texto libre con combinaciones y errores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Imputación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4 con KNN (tabla del Anexo; ajustado en train)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Pocos vacíos aleatorios por digitación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Bloque 2: consolidado desde 6 Excel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379 filas; 19 hojas verificadas; IMC recalculado (6)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Normalizar categorías y completar IMC con peso/talla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Tabla de evaluaciones (niño × mes)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324 filas, 121 NNA (periodo + 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404040"/>
                          </a:solidFill>
                          <a:latin typeface="Calibri"/>
                        </a:rPr>
                        <a:t>Etiqueta del mismo mes que la medición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Contraste ficha vs medición (OMS): concordancia 76,9 % en exceso de peso y 82,1 % en talla baja → la ficha se parece a las medidas pero no las replica.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7. Unidad de análisis y partición por niño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E10 · 1INF03 Análisis de Datos 2026-2 · Avance de la 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6692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Calibri"/>
              </a:rPr>
              <a:t/>
            </a:r>
            <a:r>
              <a:rPr sz="1600">
                <a:solidFill>
                  <a:srgbClr val="404040"/>
                </a:solidFill>
                <a:latin typeface="Calibri"/>
              </a:rPr>
              <a:t>• Unidad: una evaluación = un NNA en un mes (peso, talla, IMC, edad, sexo)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• Etiqueta tomada del mismo mes en la ficha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• Etiqueta principal: alteración estricta (37,3 % de las evaluaciones)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• Etiqueta de sensibilidad: alteración amplia con riesgos (66,7 %)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• Partición 75/25 por niño, estratificada, semilla 2026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  <a:latin typeface="Calibri"/>
              </a:rPr>
              <a:t>– Entrenamiento: 90 niños, 236 evaluaciones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  <a:latin typeface="Calibri"/>
              </a:rPr>
              <a:t>– Prueba: 31 niños, 88 evaluaciones (no se toca hasta el final)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04040"/>
                </a:solidFill>
                <a:latin typeface="Calibri"/>
              </a:rPr>
              <a:t>• Validación cruzada agrupada por niño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28016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353312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Por qué por niño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737360"/>
            <a:ext cx="4846320" cy="1600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  <a:latin typeface="Calibri"/>
              </a:rPr>
              <a:t>Dos evaluaciones del mismo niño se parecen mucho. Si se mezclaran, el modelo «reconocería al niño» y el resultado sería optimista.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65760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3730752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Cuidado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114800"/>
            <a:ext cx="4846320" cy="1600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04040"/>
                </a:solidFill>
                <a:latin typeface="Calibri"/>
              </a:rPr>
              <a:t>Muestra pequeña: el AUC cambia según qué niños caen en entrenamiento (0,76–0,86 en 20 particiones).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8. Transformación: lo que importa es desviarse de lo esperado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E10 · 1INF03 Análisis de Datos 2026-2 · Avance de la TA</a:t>
            </a:r>
          </a:p>
        </p:txBody>
      </p:sp>
      <p:pic>
        <p:nvPicPr>
          <p:cNvPr id="6" name="Picture 5" descr="s4_residuos_por_etique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6949438" cy="2017579"/>
          </a:xfrm>
          <a:prstGeom prst="rect">
            <a:avLst/>
          </a:prstGeom>
        </p:spPr>
      </p:pic>
      <p:pic>
        <p:nvPicPr>
          <p:cNvPr id="7" name="Picture 6" descr="s4_curvas_ed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0"/>
            <a:ext cx="6949438" cy="21064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89320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Calibri"/>
              </a:rPr>
              <a:t>Arriba: residuos según la etiqueta. Abajo: valor esperado de peso, talla e IMC según la edad (curvas ajustadas).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188720"/>
            <a:ext cx="429768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Calibri"/>
              </a:rPr>
              <a:t/>
            </a:r>
            <a:r>
              <a:rPr sz="1400">
                <a:solidFill>
                  <a:srgbClr val="404040"/>
                </a:solidFill>
                <a:latin typeface="Calibri"/>
              </a:rPr>
              <a:t>• Edad, peso y talla correlacionan 0,86–0,94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  <a:latin typeface="Calibri"/>
              </a:rPr>
              <a:t>• Residuos: valor observado − esperado para su edad y sexo (ajuste con entrenamiento)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  <a:latin typeface="Calibri"/>
              </a:rPr>
              <a:t>• Con alteración: +3,7 kg, −0,8 cm y +1,9 de IMC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  <a:latin typeface="Calibri"/>
              </a:rPr>
              <a:t>• Sin alteración: −2,2 kg, +0,5 cm y −1,1 de IMC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  <a:latin typeface="Calibri"/>
              </a:rPr>
              <a:t>• Residuos y StandardScaler dentro de un Pipeline: se ajustan en cada pliegue (sin fuga)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04040"/>
                </a:solidFill>
                <a:latin typeface="Calibri"/>
              </a:rPr>
              <a:t>• PCA descartado: CP1 = 84,1 % = tamaño corporal; pierde interpretabilidad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9. Selección preliminar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E10 · 1INF03 Análisis de Datos 2026-2 · Avance de la TA</a:t>
            </a:r>
          </a:p>
        </p:txBody>
      </p:sp>
      <p:pic>
        <p:nvPicPr>
          <p:cNvPr id="6" name="Picture 5" descr="s5_auc_model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7315199" cy="2427163"/>
          </a:xfrm>
          <a:prstGeom prst="rect">
            <a:avLst/>
          </a:prstGeom>
        </p:spPr>
      </p:pic>
      <p:pic>
        <p:nvPicPr>
          <p:cNvPr id="7" name="Picture 6" descr="s5_permutacion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4147273" cy="21882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46320" y="4023360"/>
            <a:ext cx="29260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Candidatos: regresión logística (interpretable; supera al SVC en 19 de 20 particiones) y SVC. KNN queda como comparador.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863840" y="1280160"/>
          <a:ext cx="40233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64592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Línea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Reg. logística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0,85 (0,76–0,86)*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SVC (rbf)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0,83 (0,71–0,83)*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KNN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0,68–0,75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863840" y="3566160"/>
            <a:ext cx="4114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Calibri"/>
              </a:rPr>
              <a:t/>
            </a:r>
            <a:r>
              <a:rPr sz="1300">
                <a:solidFill>
                  <a:srgbClr val="404040"/>
                </a:solidFill>
                <a:latin typeface="Calibri"/>
              </a:rPr>
              <a:t>• Permutaciones por niño: AUC real 0,84 vs 0,55 al azar (p = 0,01)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• La edad sola: AUC 0,49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• Etiqueta amplia: señal moderada (AUC 0,65–0,77)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Calibri"/>
              </a:rPr>
              <a:t>* Entre paréntesis: rango según 20 semillas de partición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10. Auditoría de la ficha y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E10 · 1INF03 Análisis de Datos 2026-2 · Avance de la 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6187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Auditoría: ficha vs medición 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521208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Concordancia: 68,8 % de 324 evaluaciones.
58 casos: ficha «sin alteración» pero la medición indica exceso o talla baja.
43 casos: ficha «con alteración» y medición normal.
65 de 121 NNA con al menos una discrepancia (14 en todas sus evaluaciones).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303520" cy="2926080"/>
          </a:xfrm>
          <a:prstGeom prst="roundRect">
            <a:avLst>
              <a:gd name="adj" fmla="val 6000"/>
            </a:avLst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6187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Clustering (K-Means)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02920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Calibri"/>
              </a:rPr>
              <a:t>Medidas crudas: los grupos se forman por tamaño/edad y no coinciden con la etiqueta (AUC 0,48–0,51).
Medidas ajustadas por edad: AUC hasta 0,76 con 6 grupos, por debajo de los modelos supervisados.
Queda como línea futura (K-Prototypes / Gower).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Producto para la institución: archivo con los NNA y meses donde ficha y medición discrepan, para revisión de la nutricionista. No es una corrección automática: no sabemos si falla la ficha (rezago, indicadores mezclados) o la medición.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11. Limitaciones y 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E10 · 1INF03 Análisis de Datos 2026-2 · Avance de la 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6187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Limitaciones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5212080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  <a:latin typeface="Calibri"/>
              </a:rPr>
              <a:t>• Muestra pequeña: 121 NNA, 1–5 evaluaciones cada uno
• Solo 5 meses de 2026 con ficha (sin mayo ni julio; agosto sin ficha)
• La etiqueta es un registro manual con posible rezago
• AUC sensible a la partición (0,76–0,86 según la semilla)
• Junio: fecha de evaluación asumida (edad con fórmula HOY())
• Prueba (31 niños) sin usar todavía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303520" cy="402336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6187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Para la entrega final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029200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  <a:latin typeface="Calibri"/>
              </a:rPr>
              <a:t>• Ajuste de hiperparámetros con GridSearchCV agrupado
• Cuarto modelo (árbol/bosque) y comparación
• Evaluación única en el conjunto de prueba, con incertidumbre
• Validar discrepancias con la nutricionista
• Clustering de perfiles (opcional)
• Informe, ficha técnica y notebooks finales (24/11)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Declaración de uso de Inteligencia Artificial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04040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E10 · 1INF03 Análisis de Datos 2026-2 · Avance de la 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04040"/>
                </a:solidFill>
                <a:latin typeface="Calibri"/>
              </a:rPr>
              <a:t/>
            </a:r>
            <a:r>
              <a:rPr sz="1700">
                <a:solidFill>
                  <a:srgbClr val="404040"/>
                </a:solidFill>
                <a:latin typeface="Calibri"/>
              </a:rPr>
              <a:t>• Herramienta: Claude (Anthropic), asistente de IA generativa usado mediante Claude Code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Usos declarados: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Calibri"/>
              </a:rPr>
              <a:t>– Revisión de los documentos del curso y de los datos; auditoría del consolidado contra los Excel originales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Calibri"/>
              </a:rPr>
              <a:t>– Reconstrucción del proyecto: código de los notebooks (Steps 1–6) y redacción de las interpretaciones, verificadas con asserts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Calibri"/>
              </a:rPr>
              <a:t>– Preparación de la ficha técnica, el Gantt y esta presentación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Justificación: acelerar el trabajo operativo; las decisiones de enfoque (objetivo, etiqueta, validación por niño) se discutieron con el equipo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Responsabilidad: el equipo revisa, ejecuta y puede explicar cada paso y resultado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04040"/>
                </a:solidFill>
                <a:latin typeface="Calibri"/>
              </a:rPr>
              <a:t>• Declaración en cada notebook y declaración general con los prompts principales en el 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