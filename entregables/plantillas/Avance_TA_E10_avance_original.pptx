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Presentarse. Decir que se cubren las etapas 1 a 4 de KDD y una selección preliminar de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Puericultorio acoge NNA. El diagnóstico nutricional se escribe a mano en la ficha. Preguntamos si coincide con las mediciones y si se puede estimar con ellas.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el objetivo se definió libremente (los Lineamientos dan uno genérico) y que cambió con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bloques. Resaltar que el Bloque 1 es panel mensual con IDs no únicos y el Bloque 2 cubre 6 meses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hallazgo tiene una decisión justificada; está en el notebook Step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 negativo honesto. Justifica el cambio de enfoque. Está en el Anexo Step 4 y Step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de pasos con filas antes/después. Detalle en Step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Clave: un niño tiene varias evaluaciones parecidas; si se mezclan en train y test hay fuga. Se parte por niño.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Residuos por edad y sexo, escalado ajustado solo con train, PCA descartado.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 en CV agrupada por niño, solo train. Logística y SVC son los candidatos; KNN comparador. Diferencias ~0,02 no son concluyentes.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Concordancia 68,6 %. No sabemos qué lado falla; es una lista para la nutricionista. Clustering queda como línea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Declarar las limitaciones nosotros. Mostrar el Gantt (archivo Gantt_E10.xlsx).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Lineamientos exigen declarar, citar y justificar el uso de IA. Prompts disponibles como anexo si el docente los solicita.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Auditoría y estimación del estado nutricional de niñas, niños y adolescentes del Puericultorio Pérez Araníbar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DEBF7"/>
                </a:solidFill>
                <a:latin typeface="Calibri"/>
              </a:rPr>
              <a:t>Avance de la Tarea Académica – Etapas 1 a 4 de KDD (5 y 6 preliminar)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Equipo E10 · Análisis de Datos (1INF03) · 2026-2
Profesora: Stéfany Neciosup
Integrantes: [nombres por completar] – códigos 20206770, 20203289, 20213801, 20181390, 20180282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1. El caso: ¿qué tan confiable es el registro nutricional?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760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/>
            </a:r>
            <a:r>
              <a:rPr sz="1800">
                <a:solidFill>
                  <a:srgbClr val="404040"/>
                </a:solidFill>
                <a:latin typeface="Calibri"/>
              </a:rPr>
              <a:t>• Puericultorio Pérez Araníbar: niñas, niños y adolescentes (NNA) acogidos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El estado nutricional se anota a mano en la ficha mensual («Nivel Nutricional»)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Texto libre: 29 variantes de escritura, errores y casos «en proceso»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Además se miden peso y talla y se clasifican con tablas OMS / INS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Pregunta de negocio: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¿Ficha y mediciones cuentan la misma historia?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¿Se puede estimar la alteración nutricional con peso, talla, edad y sexo?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4937760" cy="219456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533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Por qué importa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737360"/>
            <a:ext cx="466344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Calibri"/>
              </a:rPr>
              <a:t>Detectar a tiempo exceso de peso o retraso de talla, mejorar la calidad del dato y priorizar la atención de la nutricionista.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749039"/>
            <a:ext cx="4937760" cy="21945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3822191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Lo que encontramos (adelanto)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206240"/>
            <a:ext cx="466344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Calibri"/>
              </a:rPr>
              <a:t>Ficha y medición OMS concuerdan en 68,6 %. Con las medidas se estima la alteración estricta con AUC ≈ 0,82; con la ficha sola, no (AUC ≈ 0,5).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2. Objetivos de análisis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1. Principal – Clasificar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3832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Estimar la alteración estricta (exceso de peso o retraso de talla) con peso, talla, IMC, edad y sexo. Etiqueta amplia (con riesgos) como sensibilidad.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6187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2. Auditar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33832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Señalar a los NNA y meses donde ficha y medición discrepan, para revisión de la nutricionista.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6187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3. Perfilar (final)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645920"/>
            <a:ext cx="310896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Grupos de NNA por medidas y situación en el hogar (clustering). Línea futura.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11064240" cy="192024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79392"/>
            <a:ext cx="107899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Cómo llegamos aquí: una hipótesis descartada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1078991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Primero intentamos predecir la alteración solo con las variables de la ficha (situación legal, UPE, educación, soporte psicológico…). Resultado: AUC 0,41 a 0,51, sin diferencia con el azar (p 0,80 a 0,99). Lo documentamos en los anexos y cambiamos el enfoque a las medidas antropométricas.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3. Composición de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  <a:gridCol w="4663440"/>
              </a:tblGrid>
              <a:tr h="64007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Bloque 1: ficha nominal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Bloque 2: nutrición 2026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Datos del NNA, situación legal, educación, salud, soporte y diagnóstico nutricional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Peso, talla, IMC y diagnósticos OMS e INS (P/E, T/E, P/T, IMC)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Tamaño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2 667 filas × 33 columnas · 19 meses (ene-2025 a jul-2026)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379 filas · 6 meses (ene, feb, mar, abr, jun, ago)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NNA × mes (panel)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NNA × evaluación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Mayormente categóricas; edad y tiempo en el hogar numéricas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Numéricas (medidas) y categóricas (diagnósticos)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Limitaciones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IDs no únicos; fechas en 3 formatos; diagnóstico en texto libre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Faltan mayo y julio; hogares incompletos algunos meses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Calibri"/>
              </a:rPr>
              <a:t/>
            </a:r>
            <a:r>
              <a:rPr sz="1400">
                <a:solidFill>
                  <a:srgbClr val="404040"/>
                </a:solidFill>
                <a:latin typeface="Calibri"/>
              </a:rPr>
              <a:t>• Clave propia del NNA: ID + sexo + fecha de nacimiento → 164 NNA (4 IDs agrupaban niños distintos)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Cruce de ambos bloques por niño y mes: 306 evaluaciones de 116 NNA con diagnóstico en la ficha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4. Calidad de los datos: lo que encontramos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IDs no únicos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4 IDs agrupan niños distintos (157 IDs → 164 NNA)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Clave ID + sexo + nacimiento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Fechas en 3 formatos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Texto mezclado día/mes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Conversión a fecha, 0 pérdidas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Ingreso inválido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87 filas (15 NNA): ingreso fuera del rango lógico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 marca (NaT + indicador), no se descarta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Edad negativa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2 filas: nacimiento posterior al registro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 excluyen (error de captura)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Diagnóstico sucio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29 variantes de texto y «en proceso»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 descompone en componentes → etiquetas binarias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Variables sin información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14 columnas constantes o duplicadas (p. ej., Seguro, Nacionalidad)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 descartan con evidencia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Valores faltantes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4 NNA sin tiempo en el hogar; 1 sin severidad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KNN (k=5) y mediana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Atípicos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1 persona de 28 años; IMC extremos reales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 conserva en la ficha; se excluye de los modelos (&gt; 19 años, fuera de OMS)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5. Primer intento: solo con la ficha → sin señal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pic>
        <p:nvPicPr>
          <p:cNvPr id="6" name="Picture 5" descr="a5_viabilidad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766560" cy="29516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280160"/>
            <a:ext cx="44805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Calibri"/>
              </a:rPr>
              <a:t/>
            </a:r>
            <a:r>
              <a:rPr sz="1500">
                <a:solidFill>
                  <a:srgbClr val="404040"/>
                </a:solidFill>
                <a:latin typeface="Calibri"/>
              </a:rPr>
              <a:t>• Se probaron regresión logística, KNN y SVC con 20 variables de la ficha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AUC entre 0,41 y 0,57; la prueba de permutaciones no los distingue del azar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La edad sola rinde igual o mejor que las 20 variables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Lectura: con la ficha administrativa no se predice la alteración; los factores relevantes no están en ella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Decisión: pasar a las medidas antropométricas, no ajustar el modelo hasta que «salga»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6. Preprocesamiento justificado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29184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Limpieza de texto y vacíos disfrazados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2 667 × 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Espacios y «NA» impedían contar nulos y agrupar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Clave de niño y duplicados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164 NNA; 0 duplicados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Evitar mezclar niños con el mismo 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Edad negativa e ingreso inválido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−2 filas; 87 marcadas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Errores de captura sin perder niños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Etiqueta binaria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29 variantes → 6 componentes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Texto libre con combinaciones y errores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Imputación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4 con KNN, 1 con mediana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Pocos vacíos aleatorios por digitación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Bloque 2: diagnósticos e IMC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379 filas; IMC recalculado (6 vacíos)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Normalizar categorías y completar IMC con peso/talla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Tabla de evaluaciones (niño × mes)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306 filas, 116 NNA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Etiqueta del mismo mes que la medición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Contraste ficha vs medición (OMS): concordancia 76 % en exceso de peso y 83 % en talla baja → la ficha se parece a las medidas pero no las replica.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7. Unidad de análisis y partición por niño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6692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Calibri"/>
              </a:rPr>
              <a:t/>
            </a:r>
            <a:r>
              <a:rPr sz="1600">
                <a:solidFill>
                  <a:srgbClr val="404040"/>
                </a:solidFill>
                <a:latin typeface="Calibri"/>
              </a:rPr>
              <a:t>• Unidad: una evaluación = un NNA en un mes (peso, talla, IMC, edad, sexo)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Etiqueta tomada del mismo mes en la ficha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Etiqueta principal: alteración estricta (37,9 % de las evaluaciones)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Etiqueta de sensibilidad: alteración amplia con riesgos (68,0 %)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Partición 75/25 por niño, estratificada, semilla 2026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Entrenamiento: 87 niños, 229 evaluaciones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Prueba: 29 niños, 77 evaluaciones (no se toca hasta el final)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Validación cruzada agrupada por niño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8016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35331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Por qué por niño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484632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Dos evaluaciones del mismo niño se parecen mucho. Si se mezclaran, el modelo «reconocería al niño» y el resultado sería optimista.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65760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73075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Cuidado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14800"/>
            <a:ext cx="484632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Muestra pequeña. El conjunto de prueba tiene niños algo más pequeños que el de entrenamiento (edad media −0,3 desv.).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8. Transformación: lo que importa es desviarse de lo esperado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pic>
        <p:nvPicPr>
          <p:cNvPr id="6" name="Picture 5" descr="s4_residuos_por_etiqu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6949440" cy="2017579"/>
          </a:xfrm>
          <a:prstGeom prst="rect">
            <a:avLst/>
          </a:prstGeom>
        </p:spPr>
      </p:pic>
      <p:pic>
        <p:nvPicPr>
          <p:cNvPr id="7" name="Picture 6" descr="s4_curvas_e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6949440" cy="2106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8932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Calibri"/>
              </a:rPr>
              <a:t>Arriba: residuos según la etiqueta. Abajo: valor esperado de peso, talla e IMC según la edad (curvas ajustadas).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188720"/>
            <a:ext cx="4297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Calibri"/>
              </a:rPr>
              <a:t/>
            </a:r>
            <a:r>
              <a:rPr sz="1400">
                <a:solidFill>
                  <a:srgbClr val="404040"/>
                </a:solidFill>
                <a:latin typeface="Calibri"/>
              </a:rPr>
              <a:t>• Edad, peso y talla correlacionan 0,87–0,94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Residuos: valor observado − esperado para su edad y sexo (ajuste con entrenamiento)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Con alteración: +2,5 kg, −1,4 cm y +1,5 de IMC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Sin alteración: −1,5 kg, +0,9 cm y −0,9 de IMC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StandardScaler ajustado con entrenamiento (KNN y SVC usan distancias)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PCA descartado: CP1 = 85,5 % = tamaño corporal; pierde interpretabilidad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9. Selección preliminar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pic>
        <p:nvPicPr>
          <p:cNvPr id="6" name="Picture 5" descr="s5_auc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7315200" cy="2427163"/>
          </a:xfrm>
          <a:prstGeom prst="rect">
            <a:avLst/>
          </a:prstGeom>
        </p:spPr>
      </p:pic>
      <p:pic>
        <p:nvPicPr>
          <p:cNvPr id="7" name="Picture 6" descr="s5_permutacio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4206240" cy="21882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4023360"/>
            <a:ext cx="29260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Candidatos: regresión logística (interpretable) y SVC. KNN queda como comparador. Diferencias de ~0,02 entre logística y SVC no son concluyentes.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63840" y="1280160"/>
          <a:ext cx="4023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Línea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Reg. logística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0,82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SVC (rbf)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0,81–0,82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0,62–0,78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3566160"/>
            <a:ext cx="4114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Calibri"/>
              </a:rPr>
              <a:t/>
            </a:r>
            <a:r>
              <a:rPr sz="1300">
                <a:solidFill>
                  <a:srgbClr val="404040"/>
                </a:solidFill>
                <a:latin typeface="Calibri"/>
              </a:rPr>
              <a:t>• Permutaciones por niño: AUC real 0,81 vs 0,52 al azar (p ≈ 0,01)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La edad sola: AUC 0,52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Etiqueta amplia: señal moderada (AUC 0,62–0,72)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10. Auditoría de la ficha y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Auditoría: ficha vs medición 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21208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Concordancia: 68,6 % de 306 evaluaciones.
54 casos: ficha «sin alteración» pero la medición indica exceso o talla baja.
42 casos: ficha «con alteración» y medición normal.
62 de 116 NNA con al menos una discrepancia (13 en todas sus evaluaciones).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292608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Clustering (K-Means)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Medidas crudas: los grupos se forman por tamaño/edad y no coinciden con la etiqueta (AUC 0,44–0,48).
Medidas ajustadas por edad: AUC hasta 0,74 con 6 grupos, por debajo de los modelos supervisados.
Queda como línea futura (K-Prototypes / Gower).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Producto para la institución: archivo con los NNA y meses donde ficha y medición discrepan, para revisión de la nutricionista. No es una corrección automática: no sabemos si falla la ficha (rezago, indicadores mezclados) o la medición.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11. Limitaciones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Limitaciones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21208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  <a:latin typeface="Calibri"/>
              </a:rPr>
              <a:t>• Muestra pequeña: 116 NNA, 2–5 evaluaciones cada uno
• Solo 6 de los 8 meses de 2026
• La etiqueta es un registro manual con posible rezago
• La variabilidad entre repeticiones no refleja la incertidumbre real
• Logística y SVC no son distinguibles entre sí
• Prueba (29 niños) sin usar todavía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Para la entrega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  <a:latin typeface="Calibri"/>
              </a:rPr>
              <a:t>• Ajuste de hiperparámetros con GridSearchCV agrupado
• Cuarto modelo (árbol/bosque) y comparación
• Evaluación única en el conjunto de prueba, con incertidumbre
• Validar discrepancias con la nutricionista
• Clustering de perfiles (opcional)
• Informe, ficha técnica y notebooks finales (24/11)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Declaración de uso de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04040"/>
                </a:solidFill>
                <a:latin typeface="Calibri"/>
              </a:rPr>
              <a:t/>
            </a:r>
            <a:r>
              <a:rPr sz="1700">
                <a:solidFill>
                  <a:srgbClr val="404040"/>
                </a:solidFill>
                <a:latin typeface="Calibri"/>
              </a:rPr>
              <a:t>• Herramienta: Claude (Anthropic), asistente de IA generativa usado mediante Claude Code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Usos declarados: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– Revisión de los documentos del curso y de los datos para plantear el caso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– Generación de código de los notebooks (limpieza, transformación y modelos) y de las interpretaciones iniciales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– Preparación de la ficha técnica, el Gantt y esta presentación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Justificación: acelerar el trabajo operativo; las decisiones de enfoque (objetivo, etiqueta, validación por niño) se discutieron con el equipo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Responsabilidad: el equipo revisa, ejecuta y puede explicar cada paso y resultado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Los prompts utilizados están disponibles como anexo a solicitud del docente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